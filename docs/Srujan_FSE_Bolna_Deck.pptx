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815688" y="1188720"/>
            <a:ext cx="2560320" cy="2560320"/>
          </a:xfrm>
          <a:prstGeom prst="ellipse">
            <a:avLst/>
          </a:prstGeom>
          <a:solidFill>
            <a:srgbClr val="06B6D4">
              <a:alpha val="12000"/>
            </a:srgbClr>
          </a:solidFill>
          <a:ln w="12700">
            <a:solidFill>
              <a:srgbClr val="06B6D4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01488" y="1874520"/>
            <a:ext cx="1188720" cy="11887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0" y="3840480"/>
            <a:ext cx="121916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Aria</a:t>
            </a:r>
            <a:endParaRPr lang="en-US" sz="6400" dirty="0"/>
          </a:p>
        </p:txBody>
      </p:sp>
      <p:sp>
        <p:nvSpPr>
          <p:cNvPr id="5" name="Text 2"/>
          <p:cNvSpPr/>
          <p:nvPr/>
        </p:nvSpPr>
        <p:spPr>
          <a:xfrm>
            <a:off x="0" y="461772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Recruitment Pre-Screener built on Bolna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0" y="516636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Srujan Putta · FSE@Bolna take-home · May 2026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0" y="603504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bolna-recruit-screen.vercel.app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84048"/>
            <a:ext cx="256032" cy="25603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86384" y="329184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ARIA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8076895" y="3840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FSE@Bolna · Srujan Putta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82009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9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bolna-recruit-screen.vercel.app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48640" y="96012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48640" y="12801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Recruiters lose 12 minutes per candidate</a:t>
            </a:r>
            <a:endParaRPr lang="en-US" sz="3200" dirty="0"/>
          </a:p>
        </p:txBody>
      </p:sp>
      <p:sp>
        <p:nvSpPr>
          <p:cNvPr id="9" name="Shape 6"/>
          <p:cNvSpPr/>
          <p:nvPr/>
        </p:nvSpPr>
        <p:spPr>
          <a:xfrm>
            <a:off x="548640" y="2468880"/>
            <a:ext cx="4937760" cy="3474720"/>
          </a:xfrm>
          <a:prstGeom prst="rect">
            <a:avLst/>
          </a:prstGeom>
          <a:solidFill>
            <a:srgbClr val="131A2C"/>
          </a:solidFill>
          <a:ln w="12700">
            <a:solidFill>
              <a:srgbClr val="243049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697480"/>
            <a:ext cx="502920" cy="5029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463040" y="26974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burn per role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822960" y="3383280"/>
            <a:ext cx="4572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hrs</a:t>
            </a:r>
            <a:endParaRPr lang="en-US" sz="9600" dirty="0"/>
          </a:p>
        </p:txBody>
      </p:sp>
      <p:sp>
        <p:nvSpPr>
          <p:cNvPr id="13" name="Text 9"/>
          <p:cNvSpPr/>
          <p:nvPr/>
        </p:nvSpPr>
        <p:spPr>
          <a:xfrm>
            <a:off x="822960" y="48920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 candidates × 12 min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822960" y="525780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repetitive intro screens before any real evaluation begins.</a:t>
            </a:r>
            <a:endParaRPr lang="en-US" sz="130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0" y="2606040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172200" y="2560320"/>
            <a:ext cx="54708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conversation is always the same 6 questions: experience, current/expected CTC, notice period, relocation, role interest.</a:t>
            </a:r>
            <a:endParaRPr lang="en-US" sz="140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720" y="3474720"/>
            <a:ext cx="274320" cy="27432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172200" y="3429000"/>
            <a:ext cx="54708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candidates fail this gate — but a recruiter still spends 10–15 minutes on every one.</a:t>
            </a:r>
            <a:endParaRPr lang="en-US" sz="1400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0720" y="4343400"/>
            <a:ext cx="274320" cy="27432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6172200" y="4297680"/>
            <a:ext cx="54708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structured outputs are what matters downstream (ATS, ranking). The conversation is just data collection.</a:t>
            </a:r>
            <a:endParaRPr lang="en-US" sz="1400" dirty="0"/>
          </a:p>
        </p:txBody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60720" y="5212080"/>
            <a:ext cx="274320" cy="274320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6172200" y="5166360"/>
            <a:ext cx="54708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Recruiter time is wasted on data entry, not on judgment.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84048"/>
            <a:ext cx="256032" cy="25603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86384" y="329184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ARIA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8076895" y="3840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FSE@Bolna · Srujan Putta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82009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9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bolna-recruit-screen.vercel.app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48640" y="96012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48640" y="12801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Aria runs the screen so recruiters don't have to</a:t>
            </a:r>
            <a:endParaRPr lang="en-US" sz="3200" dirty="0"/>
          </a:p>
        </p:txBody>
      </p:sp>
      <p:sp>
        <p:nvSpPr>
          <p:cNvPr id="9" name="Shape 6"/>
          <p:cNvSpPr/>
          <p:nvPr/>
        </p:nvSpPr>
        <p:spPr>
          <a:xfrm>
            <a:off x="548640" y="2560320"/>
            <a:ext cx="2567864" cy="2926080"/>
          </a:xfrm>
          <a:prstGeom prst="rect">
            <a:avLst/>
          </a:prstGeom>
          <a:solidFill>
            <a:srgbClr val="131A2C"/>
          </a:solidFill>
          <a:ln w="12700">
            <a:solidFill>
              <a:srgbClr val="24304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7240" y="27432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2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6812" y="3337560"/>
            <a:ext cx="731520" cy="7315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1520" y="4251960"/>
            <a:ext cx="2202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upload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731520" y="4663440"/>
            <a:ext cx="22021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Recruiter drops a candidate list (name + phone).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3390824" y="2560320"/>
            <a:ext cx="2567864" cy="2926080"/>
          </a:xfrm>
          <a:prstGeom prst="rect">
            <a:avLst/>
          </a:prstGeom>
          <a:solidFill>
            <a:srgbClr val="131A2C"/>
          </a:solidFill>
          <a:ln w="12700">
            <a:solidFill>
              <a:srgbClr val="243049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619424" y="27432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2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8996" y="3337560"/>
            <a:ext cx="731520" cy="7315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573704" y="4251960"/>
            <a:ext cx="2202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call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3573704" y="4663440"/>
            <a:ext cx="22021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Aria calls each candidate with name, role, company filled in.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233008" y="2560320"/>
            <a:ext cx="2567864" cy="2926080"/>
          </a:xfrm>
          <a:prstGeom prst="rect">
            <a:avLst/>
          </a:prstGeom>
          <a:solidFill>
            <a:srgbClr val="131A2C"/>
          </a:solidFill>
          <a:ln w="12700">
            <a:solidFill>
              <a:srgbClr val="243049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6461608" y="27432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20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51180" y="3337560"/>
            <a:ext cx="731520" cy="7315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415888" y="4251960"/>
            <a:ext cx="2202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 extractions</a:t>
            </a:r>
            <a:endParaRPr lang="en-US" sz="1800" dirty="0"/>
          </a:p>
        </p:txBody>
      </p:sp>
      <p:sp>
        <p:nvSpPr>
          <p:cNvPr id="23" name="Text 17"/>
          <p:cNvSpPr/>
          <p:nvPr/>
        </p:nvSpPr>
        <p:spPr>
          <a:xfrm>
            <a:off x="6415888" y="4663440"/>
            <a:ext cx="22021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structured fields extracted by the LLM, not free text.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9075191" y="2560320"/>
            <a:ext cx="2567864" cy="2926080"/>
          </a:xfrm>
          <a:prstGeom prst="rect">
            <a:avLst/>
          </a:prstGeom>
          <a:solidFill>
            <a:srgbClr val="131A2C"/>
          </a:solidFill>
          <a:ln w="12700">
            <a:solidFill>
              <a:srgbClr val="243049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9303791" y="27432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200" dirty="0"/>
          </a:p>
        </p:txBody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93363" y="3337560"/>
            <a:ext cx="731520" cy="73152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9258071" y="4251960"/>
            <a:ext cx="2202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shortlist</a:t>
            </a:r>
            <a:endParaRPr lang="en-US" sz="1800" dirty="0"/>
          </a:p>
        </p:txBody>
      </p:sp>
      <p:sp>
        <p:nvSpPr>
          <p:cNvPr id="28" name="Text 21"/>
          <p:cNvSpPr/>
          <p:nvPr/>
        </p:nvSpPr>
        <p:spPr>
          <a:xfrm>
            <a:off x="9258071" y="4663440"/>
            <a:ext cx="22021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0–100 transparent score; one-click CSV export to ATS.</a:t>
            </a:r>
            <a:endParaRPr lang="en-US" sz="1200" dirty="0"/>
          </a:p>
        </p:txBody>
      </p:sp>
      <p:sp>
        <p:nvSpPr>
          <p:cNvPr id="29" name="Text 22"/>
          <p:cNvSpPr/>
          <p:nvPr/>
        </p:nvSpPr>
        <p:spPr>
          <a:xfrm>
            <a:off x="548640" y="57150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call is a structured 3-minute conversation. Variables are substituted via Bolna's user_data field at call time.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84048"/>
            <a:ext cx="256032" cy="25603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86384" y="329184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ARIA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8076895" y="3840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FSE@Bolna · Srujan Putta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82009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9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bolna-recruit-screen.vercel.app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48640" y="96012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48640" y="12801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Bolna + Next.js 15 + Supabase. One deploy.</a:t>
            </a:r>
            <a:endParaRPr lang="en-US" sz="3200" dirty="0"/>
          </a:p>
        </p:txBody>
      </p:sp>
      <p:sp>
        <p:nvSpPr>
          <p:cNvPr id="9" name="Shape 6"/>
          <p:cNvSpPr/>
          <p:nvPr/>
        </p:nvSpPr>
        <p:spPr>
          <a:xfrm>
            <a:off x="548640" y="2468880"/>
            <a:ext cx="7132320" cy="3931920"/>
          </a:xfrm>
          <a:prstGeom prst="rect">
            <a:avLst/>
          </a:prstGeom>
          <a:solidFill>
            <a:srgbClr val="131A2C"/>
          </a:solidFill>
          <a:ln w="12700">
            <a:solidFill>
              <a:srgbClr val="243049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914400" y="2834640"/>
            <a:ext cx="1828800" cy="822960"/>
          </a:xfrm>
          <a:prstGeom prst="rect">
            <a:avLst/>
          </a:prstGeom>
          <a:solidFill>
            <a:srgbClr val="0A0E1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05840" y="29260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Recruiter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005840" y="32918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browser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3657600" y="2834640"/>
            <a:ext cx="2377440" cy="822960"/>
          </a:xfrm>
          <a:prstGeom prst="rect">
            <a:avLst/>
          </a:prstGeom>
          <a:solidFill>
            <a:srgbClr val="0A0E1A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749040" y="29260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(Vercel)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3749040" y="32918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/api/calls/trigger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6949440" y="2834640"/>
            <a:ext cx="2377440" cy="822960"/>
          </a:xfrm>
          <a:prstGeom prst="rect">
            <a:avLst/>
          </a:prstGeom>
          <a:solidFill>
            <a:srgbClr val="0A0E1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040880" y="29260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Bolna /call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7040880" y="32918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user_data: {…}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2743200" y="3246120"/>
            <a:ext cx="914400" cy="0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0" name="Shape 17"/>
          <p:cNvSpPr/>
          <p:nvPr/>
        </p:nvSpPr>
        <p:spPr>
          <a:xfrm>
            <a:off x="6035040" y="3246120"/>
            <a:ext cx="914400" cy="0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1" name="Shape 18"/>
          <p:cNvSpPr/>
          <p:nvPr/>
        </p:nvSpPr>
        <p:spPr>
          <a:xfrm>
            <a:off x="6949440" y="4023360"/>
            <a:ext cx="2377440" cy="822960"/>
          </a:xfrm>
          <a:prstGeom prst="rect">
            <a:avLst/>
          </a:prstGeom>
          <a:solidFill>
            <a:srgbClr val="0A0E1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040880" y="41148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Aria agent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7040880" y="44805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telephony + LLM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8138160" y="3657600"/>
            <a:ext cx="0" cy="365760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5" name="Shape 22"/>
          <p:cNvSpPr/>
          <p:nvPr/>
        </p:nvSpPr>
        <p:spPr>
          <a:xfrm>
            <a:off x="3657600" y="4023360"/>
            <a:ext cx="2377440" cy="822960"/>
          </a:xfrm>
          <a:prstGeom prst="rect">
            <a:avLst/>
          </a:prstGeom>
          <a:solidFill>
            <a:srgbClr val="0A0E1A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3749040" y="41148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/api/webhooks/bolna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3749040" y="44805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terminal events only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6949440" y="4434840"/>
            <a:ext cx="-914400" cy="0"/>
          </a:xfrm>
          <a:prstGeom prst="line">
            <a:avLst/>
          </a:prstGeom>
          <a:noFill/>
          <a:ln w="15875">
            <a:solidFill>
              <a:srgbClr val="34D399"/>
            </a:solidFill>
            <a:prstDash val="solid"/>
            <a:tailEnd type="triangle"/>
          </a:ln>
        </p:spPr>
      </p:sp>
      <p:sp>
        <p:nvSpPr>
          <p:cNvPr id="29" name="Shape 26"/>
          <p:cNvSpPr/>
          <p:nvPr/>
        </p:nvSpPr>
        <p:spPr>
          <a:xfrm>
            <a:off x="3657600" y="5212080"/>
            <a:ext cx="2377440" cy="822960"/>
          </a:xfrm>
          <a:prstGeom prst="rect">
            <a:avLst/>
          </a:prstGeom>
          <a:solidFill>
            <a:srgbClr val="0A0E1A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3749040" y="53035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Postgres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3749040" y="56692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screenings.upsert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4846320" y="4846320"/>
            <a:ext cx="0" cy="365760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33" name="Shape 30"/>
          <p:cNvSpPr/>
          <p:nvPr/>
        </p:nvSpPr>
        <p:spPr>
          <a:xfrm>
            <a:off x="914400" y="5212080"/>
            <a:ext cx="1828800" cy="822960"/>
          </a:xfrm>
          <a:prstGeom prst="rect">
            <a:avLst/>
          </a:prstGeom>
          <a:solidFill>
            <a:srgbClr val="0A0E1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1005840" y="53035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300" dirty="0"/>
          </a:p>
        </p:txBody>
      </p:sp>
      <p:sp>
        <p:nvSpPr>
          <p:cNvPr id="35" name="Text 32"/>
          <p:cNvSpPr/>
          <p:nvPr/>
        </p:nvSpPr>
        <p:spPr>
          <a:xfrm>
            <a:off x="1005840" y="56692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Realtime + 2s poll</a:t>
            </a:r>
            <a:endParaRPr lang="en-US" sz="900" dirty="0"/>
          </a:p>
        </p:txBody>
      </p:sp>
      <p:sp>
        <p:nvSpPr>
          <p:cNvPr id="36" name="Shape 33"/>
          <p:cNvSpPr/>
          <p:nvPr/>
        </p:nvSpPr>
        <p:spPr>
          <a:xfrm>
            <a:off x="3657600" y="5623560"/>
            <a:ext cx="-914400" cy="0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tailEnd type="triangle"/>
          </a:ln>
        </p:spPr>
      </p:sp>
      <p:pic>
        <p:nvPicPr>
          <p:cNvPr id="3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0" y="2606040"/>
            <a:ext cx="411480" cy="411480"/>
          </a:xfrm>
          <a:prstGeom prst="rect">
            <a:avLst/>
          </a:prstGeom>
        </p:spPr>
      </p:pic>
      <p:sp>
        <p:nvSpPr>
          <p:cNvPr id="38" name="Text 34"/>
          <p:cNvSpPr/>
          <p:nvPr/>
        </p:nvSpPr>
        <p:spPr>
          <a:xfrm>
            <a:off x="8595360" y="2560320"/>
            <a:ext cx="3047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Bolna</a:t>
            </a:r>
            <a:endParaRPr lang="en-US" sz="1600" dirty="0"/>
          </a:p>
        </p:txBody>
      </p:sp>
      <p:sp>
        <p:nvSpPr>
          <p:cNvPr id="39" name="Text 35"/>
          <p:cNvSpPr/>
          <p:nvPr/>
        </p:nvSpPr>
        <p:spPr>
          <a:xfrm>
            <a:off x="8595360" y="2926080"/>
            <a:ext cx="30476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prompts · telephony · transcription · 7-field LLM extraction</a:t>
            </a:r>
            <a:endParaRPr lang="en-US" sz="1100" dirty="0"/>
          </a:p>
        </p:txBody>
      </p:sp>
      <p:pic>
        <p:nvPicPr>
          <p:cNvPr id="4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3566160"/>
            <a:ext cx="411480" cy="411480"/>
          </a:xfrm>
          <a:prstGeom prst="rect">
            <a:avLst/>
          </a:prstGeom>
        </p:spPr>
      </p:pic>
      <p:sp>
        <p:nvSpPr>
          <p:cNvPr id="41" name="Text 36"/>
          <p:cNvSpPr/>
          <p:nvPr/>
        </p:nvSpPr>
        <p:spPr>
          <a:xfrm>
            <a:off x="8595360" y="3520440"/>
            <a:ext cx="3047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15</a:t>
            </a:r>
            <a:endParaRPr lang="en-US" sz="1600" dirty="0"/>
          </a:p>
        </p:txBody>
      </p:sp>
      <p:sp>
        <p:nvSpPr>
          <p:cNvPr id="42" name="Text 37"/>
          <p:cNvSpPr/>
          <p:nvPr/>
        </p:nvSpPr>
        <p:spPr>
          <a:xfrm>
            <a:off x="8595360" y="3886200"/>
            <a:ext cx="30476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Router · server components · trigger + webhook routes · ranking</a:t>
            </a:r>
            <a:endParaRPr lang="en-US" sz="1100" dirty="0"/>
          </a:p>
        </p:txBody>
      </p:sp>
      <p:pic>
        <p:nvPicPr>
          <p:cNvPr id="4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4526280"/>
            <a:ext cx="411480" cy="411480"/>
          </a:xfrm>
          <a:prstGeom prst="rect">
            <a:avLst/>
          </a:prstGeom>
        </p:spPr>
      </p:pic>
      <p:sp>
        <p:nvSpPr>
          <p:cNvPr id="44" name="Text 38"/>
          <p:cNvSpPr/>
          <p:nvPr/>
        </p:nvSpPr>
        <p:spPr>
          <a:xfrm>
            <a:off x="8595360" y="4480560"/>
            <a:ext cx="3047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</a:t>
            </a:r>
            <a:endParaRPr lang="en-US" sz="1600" dirty="0"/>
          </a:p>
        </p:txBody>
      </p:sp>
      <p:sp>
        <p:nvSpPr>
          <p:cNvPr id="45" name="Text 39"/>
          <p:cNvSpPr/>
          <p:nvPr/>
        </p:nvSpPr>
        <p:spPr>
          <a:xfrm>
            <a:off x="8595360" y="4846320"/>
            <a:ext cx="30476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 · Realtime channel · service-role for server writes</a:t>
            </a:r>
            <a:endParaRPr lang="en-US" sz="1100" dirty="0"/>
          </a:p>
        </p:txBody>
      </p:sp>
      <p:pic>
        <p:nvPicPr>
          <p:cNvPr id="4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6720" y="5486400"/>
            <a:ext cx="411480" cy="411480"/>
          </a:xfrm>
          <a:prstGeom prst="rect">
            <a:avLst/>
          </a:prstGeom>
        </p:spPr>
      </p:pic>
      <p:sp>
        <p:nvSpPr>
          <p:cNvPr id="47" name="Text 40"/>
          <p:cNvSpPr/>
          <p:nvPr/>
        </p:nvSpPr>
        <p:spPr>
          <a:xfrm>
            <a:off x="8595360" y="5440680"/>
            <a:ext cx="3047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</a:t>
            </a:r>
            <a:endParaRPr lang="en-US" sz="1600" dirty="0"/>
          </a:p>
        </p:txBody>
      </p:sp>
      <p:sp>
        <p:nvSpPr>
          <p:cNvPr id="48" name="Text 41"/>
          <p:cNvSpPr/>
          <p:nvPr/>
        </p:nvSpPr>
        <p:spPr>
          <a:xfrm>
            <a:off x="8595360" y="5806440"/>
            <a:ext cx="30476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deploy · edge serverless · auto-redeploy on git push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84048"/>
            <a:ext cx="256032" cy="25603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86384" y="329184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ARIA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8076895" y="3840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FSE@Bolna · Srujan Putta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82009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9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bolna-recruit-screen.vercel.app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48640" y="96012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48640" y="12801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minutes, end-to-end</a:t>
            </a:r>
            <a:endParaRPr lang="en-US" sz="3200" dirty="0"/>
          </a:p>
        </p:txBody>
      </p:sp>
      <p:sp>
        <p:nvSpPr>
          <p:cNvPr id="9" name="Shape 6"/>
          <p:cNvSpPr/>
          <p:nvPr/>
        </p:nvSpPr>
        <p:spPr>
          <a:xfrm>
            <a:off x="548640" y="2468880"/>
            <a:ext cx="11094415" cy="3383280"/>
          </a:xfrm>
          <a:prstGeom prst="rect">
            <a:avLst/>
          </a:prstGeom>
          <a:solidFill>
            <a:srgbClr val="131A2C"/>
          </a:solidFill>
          <a:ln w="12700">
            <a:solidFill>
              <a:srgbClr val="243049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22960" y="2697480"/>
            <a:ext cx="164592" cy="164592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51560" y="2697480"/>
            <a:ext cx="164592" cy="164592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280160" y="2697480"/>
            <a:ext cx="164592" cy="164592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645920" y="2633472"/>
            <a:ext cx="8899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bolna-recruit-screen.vercel.app/roles/…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914400" y="3108960"/>
            <a:ext cx="103628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Backend Engineer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914400" y="3520440"/>
            <a:ext cx="10362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Acme Labs · Bangalore · ≥4y · ≤₹30L · Building distributed systems in Go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914400" y="3977640"/>
            <a:ext cx="2384984" cy="640080"/>
          </a:xfrm>
          <a:prstGeom prst="rect">
            <a:avLst/>
          </a:prstGeom>
          <a:solidFill>
            <a:srgbClr val="0A0E1A"/>
          </a:solidFill>
          <a:ln w="12700">
            <a:solidFill>
              <a:srgbClr val="243049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051560" y="4032504"/>
            <a:ext cx="21106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051560" y="4251960"/>
            <a:ext cx="2110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19" name="Shape 16"/>
          <p:cNvSpPr/>
          <p:nvPr/>
        </p:nvSpPr>
        <p:spPr>
          <a:xfrm>
            <a:off x="3573704" y="3977640"/>
            <a:ext cx="2384984" cy="640080"/>
          </a:xfrm>
          <a:prstGeom prst="rect">
            <a:avLst/>
          </a:prstGeom>
          <a:solidFill>
            <a:srgbClr val="0A0E1A"/>
          </a:solidFill>
          <a:ln w="12700">
            <a:solidFill>
              <a:srgbClr val="243049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710864" y="4032504"/>
            <a:ext cx="21106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CALLING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3710864" y="4251960"/>
            <a:ext cx="2110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200" dirty="0"/>
          </a:p>
        </p:txBody>
      </p:sp>
      <p:sp>
        <p:nvSpPr>
          <p:cNvPr id="22" name="Shape 19"/>
          <p:cNvSpPr/>
          <p:nvPr/>
        </p:nvSpPr>
        <p:spPr>
          <a:xfrm>
            <a:off x="6233008" y="3977640"/>
            <a:ext cx="2384984" cy="640080"/>
          </a:xfrm>
          <a:prstGeom prst="rect">
            <a:avLst/>
          </a:prstGeom>
          <a:solidFill>
            <a:srgbClr val="0A0E1A"/>
          </a:solidFill>
          <a:ln w="12700">
            <a:solidFill>
              <a:srgbClr val="243049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370168" y="4032504"/>
            <a:ext cx="21106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6370168" y="4251960"/>
            <a:ext cx="2110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25" name="Shape 22"/>
          <p:cNvSpPr/>
          <p:nvPr/>
        </p:nvSpPr>
        <p:spPr>
          <a:xfrm>
            <a:off x="8892311" y="3977640"/>
            <a:ext cx="2384984" cy="640080"/>
          </a:xfrm>
          <a:prstGeom prst="rect">
            <a:avLst/>
          </a:prstGeom>
          <a:solidFill>
            <a:srgbClr val="0A0E1A"/>
          </a:solidFill>
          <a:ln w="12700">
            <a:solidFill>
              <a:srgbClr val="243049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9029471" y="4032504"/>
            <a:ext cx="21106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QUALIFIED ≥70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9029471" y="4251960"/>
            <a:ext cx="2110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28" name="Shape 25"/>
          <p:cNvSpPr/>
          <p:nvPr/>
        </p:nvSpPr>
        <p:spPr>
          <a:xfrm>
            <a:off x="914400" y="4800600"/>
            <a:ext cx="10362895" cy="868680"/>
          </a:xfrm>
          <a:prstGeom prst="rect">
            <a:avLst/>
          </a:prstGeom>
          <a:solidFill>
            <a:srgbClr val="0A0E1A"/>
          </a:solidFill>
          <a:ln w="12700">
            <a:solidFill>
              <a:srgbClr val="243049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1051560" y="48920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3383280" y="48920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4846320" y="48920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5943600" y="48920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6858000" y="489204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CTC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8503920" y="48920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RELOC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1051560" y="518464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Srujan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1051560" y="541324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+91 99512 93739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3383280" y="5230368"/>
            <a:ext cx="960120" cy="292608"/>
          </a:xfrm>
          <a:prstGeom prst="roundRect">
            <a:avLst>
              <a:gd name="adj" fmla="val 15625"/>
            </a:avLst>
          </a:prstGeom>
          <a:solidFill>
            <a:srgbClr val="34D399">
              <a:alpha val="25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3383280" y="5230368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1000" dirty="0"/>
          </a:p>
        </p:txBody>
      </p:sp>
      <p:sp>
        <p:nvSpPr>
          <p:cNvPr id="39" name="Text 36"/>
          <p:cNvSpPr/>
          <p:nvPr/>
        </p:nvSpPr>
        <p:spPr>
          <a:xfrm>
            <a:off x="4846320" y="518464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</a:t>
            </a:r>
            <a:endParaRPr lang="en-US" sz="1800" dirty="0"/>
          </a:p>
        </p:txBody>
      </p:sp>
      <p:sp>
        <p:nvSpPr>
          <p:cNvPr id="40" name="Text 37"/>
          <p:cNvSpPr/>
          <p:nvPr/>
        </p:nvSpPr>
        <p:spPr>
          <a:xfrm>
            <a:off x="5943600" y="523036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3y</a:t>
            </a:r>
            <a:endParaRPr lang="en-US" sz="1200" dirty="0"/>
          </a:p>
        </p:txBody>
      </p:sp>
      <p:sp>
        <p:nvSpPr>
          <p:cNvPr id="41" name="Text 38"/>
          <p:cNvSpPr/>
          <p:nvPr/>
        </p:nvSpPr>
        <p:spPr>
          <a:xfrm>
            <a:off x="6858000" y="52303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₹30L</a:t>
            </a:r>
            <a:endParaRPr lang="en-US" sz="1200" dirty="0"/>
          </a:p>
        </p:txBody>
      </p:sp>
      <p:sp>
        <p:nvSpPr>
          <p:cNvPr id="42" name="Text 39"/>
          <p:cNvSpPr/>
          <p:nvPr/>
        </p:nvSpPr>
        <p:spPr>
          <a:xfrm>
            <a:off x="8503920" y="523036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200" dirty="0"/>
          </a:p>
        </p:txBody>
      </p:sp>
      <p:sp>
        <p:nvSpPr>
          <p:cNvPr id="43" name="Text 40"/>
          <p:cNvSpPr/>
          <p:nvPr/>
        </p:nvSpPr>
        <p:spPr>
          <a:xfrm>
            <a:off x="548640" y="608076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the demo: bolna-recruit-screen.vercel.app · recording: included in Drive folder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84048"/>
            <a:ext cx="256032" cy="25603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86384" y="329184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ARIA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8076895" y="3840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FSE@Bolna · Srujan Putta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82009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9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bolna-recruit-screen.vercel.app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48640" y="96012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DESIGN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48640" y="12801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Aria — prompt + extractions</a:t>
            </a:r>
            <a:endParaRPr lang="en-US" sz="3200" dirty="0"/>
          </a:p>
        </p:txBody>
      </p:sp>
      <p:sp>
        <p:nvSpPr>
          <p:cNvPr id="9" name="Shape 6"/>
          <p:cNvSpPr/>
          <p:nvPr/>
        </p:nvSpPr>
        <p:spPr>
          <a:xfrm>
            <a:off x="548640" y="2468880"/>
            <a:ext cx="5364328" cy="3931920"/>
          </a:xfrm>
          <a:prstGeom prst="rect">
            <a:avLst/>
          </a:prstGeom>
          <a:solidFill>
            <a:srgbClr val="131A2C"/>
          </a:solidFill>
          <a:ln w="12700">
            <a:solidFill>
              <a:srgbClr val="243049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74320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25880" y="2743200"/>
            <a:ext cx="4449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— 4 sections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822960" y="3337560"/>
            <a:ext cx="4815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Personality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822960" y="3611880"/>
            <a:ext cx="48156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Warm, concise, human. Never pushy or robotic.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822960" y="4114800"/>
            <a:ext cx="4815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822960" y="4389120"/>
            <a:ext cx="48156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Calling {candidate_name} for {role_title} at {company_name} in {location}. 6 data points in &lt;4 min.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822960" y="4892040"/>
            <a:ext cx="4815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Instructions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822960" y="5166360"/>
            <a:ext cx="48156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8-step ordered flow. Branches: callback request, not-interested early-exit.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822960" y="5669280"/>
            <a:ext cx="4815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822960" y="5943600"/>
            <a:ext cx="48156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offers. No comparisons. No leaking unfilled JD details.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6278728" y="2468880"/>
            <a:ext cx="5364328" cy="3931920"/>
          </a:xfrm>
          <a:prstGeom prst="rect">
            <a:avLst/>
          </a:prstGeom>
          <a:solidFill>
            <a:srgbClr val="131A2C"/>
          </a:solidFill>
          <a:ln w="12700">
            <a:solidFill>
              <a:srgbClr val="243049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3048" y="2743200"/>
            <a:ext cx="365760" cy="36576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7055968" y="2743200"/>
            <a:ext cx="4449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typed extractions (Analytics)</a:t>
            </a:r>
            <a:endParaRPr lang="en-US" sz="1600" dirty="0"/>
          </a:p>
        </p:txBody>
      </p:sp>
      <p:sp>
        <p:nvSpPr>
          <p:cNvPr id="23" name="Text 18"/>
          <p:cNvSpPr/>
          <p:nvPr/>
        </p:nvSpPr>
        <p:spPr>
          <a:xfrm>
            <a:off x="6553048" y="333756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years_experience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9021928" y="3337560"/>
            <a:ext cx="2438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</a:t>
            </a:r>
            <a:endParaRPr lang="en-US" sz="1100" dirty="0"/>
          </a:p>
        </p:txBody>
      </p:sp>
      <p:sp>
        <p:nvSpPr>
          <p:cNvPr id="25" name="Text 20"/>
          <p:cNvSpPr/>
          <p:nvPr/>
        </p:nvSpPr>
        <p:spPr>
          <a:xfrm>
            <a:off x="6553048" y="372160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current_ctc_lakhs</a:t>
            </a:r>
            <a:endParaRPr lang="en-US" sz="1200" dirty="0"/>
          </a:p>
        </p:txBody>
      </p:sp>
      <p:sp>
        <p:nvSpPr>
          <p:cNvPr id="26" name="Text 21"/>
          <p:cNvSpPr/>
          <p:nvPr/>
        </p:nvSpPr>
        <p:spPr>
          <a:xfrm>
            <a:off x="9021928" y="3721608"/>
            <a:ext cx="2438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Number, nullable</a:t>
            </a:r>
            <a:endParaRPr lang="en-US" sz="1100" dirty="0"/>
          </a:p>
        </p:txBody>
      </p:sp>
      <p:sp>
        <p:nvSpPr>
          <p:cNvPr id="27" name="Text 22"/>
          <p:cNvSpPr/>
          <p:nvPr/>
        </p:nvSpPr>
        <p:spPr>
          <a:xfrm>
            <a:off x="6553048" y="4105656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expected_ctc_lakhs</a:t>
            </a:r>
            <a:endParaRPr lang="en-US" sz="1200" dirty="0"/>
          </a:p>
        </p:txBody>
      </p:sp>
      <p:sp>
        <p:nvSpPr>
          <p:cNvPr id="28" name="Text 23"/>
          <p:cNvSpPr/>
          <p:nvPr/>
        </p:nvSpPr>
        <p:spPr>
          <a:xfrm>
            <a:off x="9021928" y="4105656"/>
            <a:ext cx="2438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</a:t>
            </a:r>
            <a:endParaRPr lang="en-US" sz="1100" dirty="0"/>
          </a:p>
        </p:txBody>
      </p:sp>
      <p:sp>
        <p:nvSpPr>
          <p:cNvPr id="29" name="Text 24"/>
          <p:cNvSpPr/>
          <p:nvPr/>
        </p:nvSpPr>
        <p:spPr>
          <a:xfrm>
            <a:off x="6553048" y="4489704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notice_period_days</a:t>
            </a:r>
            <a:endParaRPr lang="en-US" sz="1200" dirty="0"/>
          </a:p>
        </p:txBody>
      </p:sp>
      <p:sp>
        <p:nvSpPr>
          <p:cNvPr id="30" name="Text 25"/>
          <p:cNvSpPr/>
          <p:nvPr/>
        </p:nvSpPr>
        <p:spPr>
          <a:xfrm>
            <a:off x="9021928" y="4489704"/>
            <a:ext cx="2438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</a:t>
            </a:r>
            <a:endParaRPr lang="en-US" sz="1100" dirty="0"/>
          </a:p>
        </p:txBody>
      </p:sp>
      <p:sp>
        <p:nvSpPr>
          <p:cNvPr id="31" name="Text 26"/>
          <p:cNvSpPr/>
          <p:nvPr/>
        </p:nvSpPr>
        <p:spPr>
          <a:xfrm>
            <a:off x="6553048" y="487375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relocation</a:t>
            </a:r>
            <a:endParaRPr lang="en-US" sz="1200" dirty="0"/>
          </a:p>
        </p:txBody>
      </p:sp>
      <p:sp>
        <p:nvSpPr>
          <p:cNvPr id="32" name="Text 27"/>
          <p:cNvSpPr/>
          <p:nvPr/>
        </p:nvSpPr>
        <p:spPr>
          <a:xfrm>
            <a:off x="9021928" y="4873752"/>
            <a:ext cx="2438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/ no / negotiable</a:t>
            </a:r>
            <a:endParaRPr lang="en-US" sz="1100" dirty="0"/>
          </a:p>
        </p:txBody>
      </p:sp>
      <p:sp>
        <p:nvSpPr>
          <p:cNvPr id="33" name="Text 28"/>
          <p:cNvSpPr/>
          <p:nvPr/>
        </p:nvSpPr>
        <p:spPr>
          <a:xfrm>
            <a:off x="6553048" y="525780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is_interested</a:t>
            </a:r>
            <a:endParaRPr lang="en-US" sz="1200" dirty="0"/>
          </a:p>
        </p:txBody>
      </p:sp>
      <p:sp>
        <p:nvSpPr>
          <p:cNvPr id="34" name="Text 29"/>
          <p:cNvSpPr/>
          <p:nvPr/>
        </p:nvSpPr>
        <p:spPr>
          <a:xfrm>
            <a:off x="9021928" y="5257800"/>
            <a:ext cx="2438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/ false</a:t>
            </a:r>
            <a:endParaRPr lang="en-US" sz="1100" dirty="0"/>
          </a:p>
        </p:txBody>
      </p:sp>
      <p:sp>
        <p:nvSpPr>
          <p:cNvPr id="35" name="Text 30"/>
          <p:cNvSpPr/>
          <p:nvPr/>
        </p:nvSpPr>
        <p:spPr>
          <a:xfrm>
            <a:off x="6553048" y="564184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call_outcome</a:t>
            </a:r>
            <a:endParaRPr lang="en-US" sz="1200" dirty="0"/>
          </a:p>
        </p:txBody>
      </p:sp>
      <p:sp>
        <p:nvSpPr>
          <p:cNvPr id="36" name="Text 31"/>
          <p:cNvSpPr/>
          <p:nvPr/>
        </p:nvSpPr>
        <p:spPr>
          <a:xfrm>
            <a:off x="9021928" y="5641848"/>
            <a:ext cx="2438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/ not_interested / callback / no_answer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84048"/>
            <a:ext cx="256032" cy="25603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86384" y="329184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ARIA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8076895" y="3840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FSE@Bolna · Srujan Putta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82009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9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bolna-recruit-screen.vercel.app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48640" y="96012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48640" y="12801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0–100 score — defendable, not a black box</a:t>
            </a:r>
            <a:endParaRPr lang="en-US" sz="3200" dirty="0"/>
          </a:p>
        </p:txBody>
      </p:sp>
      <p:sp>
        <p:nvSpPr>
          <p:cNvPr id="9" name="Shape 6"/>
          <p:cNvSpPr/>
          <p:nvPr/>
        </p:nvSpPr>
        <p:spPr>
          <a:xfrm>
            <a:off x="548640" y="2468880"/>
            <a:ext cx="6400800" cy="3931920"/>
          </a:xfrm>
          <a:prstGeom prst="rect">
            <a:avLst/>
          </a:prstGeom>
          <a:solidFill>
            <a:srgbClr val="131A2C"/>
          </a:solidFill>
          <a:ln w="12700">
            <a:solidFill>
              <a:srgbClr val="24304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269748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 (max 100)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822960" y="324612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+30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1508760" y="3337560"/>
            <a:ext cx="3657600" cy="201168"/>
          </a:xfrm>
          <a:prstGeom prst="rect">
            <a:avLst/>
          </a:prstGeom>
          <a:solidFill>
            <a:srgbClr val="0A0E1A"/>
          </a:solidFill>
          <a:ln w="6350">
            <a:solidFill>
              <a:srgbClr val="243049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508760" y="3337560"/>
            <a:ext cx="3657600" cy="20116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508760" y="308152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is_interested === true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822960" y="38404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+25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1508760" y="3931920"/>
            <a:ext cx="3657600" cy="201168"/>
          </a:xfrm>
          <a:prstGeom prst="rect">
            <a:avLst/>
          </a:prstGeom>
          <a:solidFill>
            <a:srgbClr val="0A0E1A"/>
          </a:solidFill>
          <a:ln w="6350">
            <a:solidFill>
              <a:srgbClr val="243049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508760" y="3931920"/>
            <a:ext cx="3048000" cy="20116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508760" y="367588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years_experience / target_min_years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822960" y="44348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+20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1508760" y="4526280"/>
            <a:ext cx="3657600" cy="201168"/>
          </a:xfrm>
          <a:prstGeom prst="rect">
            <a:avLst/>
          </a:prstGeom>
          <a:solidFill>
            <a:srgbClr val="0A0E1A"/>
          </a:solidFill>
          <a:ln w="6350">
            <a:solidFill>
              <a:srgbClr val="243049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508760" y="4526280"/>
            <a:ext cx="2438400" cy="201168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508760" y="427024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expected_ctc within budget (linear to 1.5×)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822960" y="502920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+15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1508760" y="5120640"/>
            <a:ext cx="3657600" cy="201168"/>
          </a:xfrm>
          <a:prstGeom prst="rect">
            <a:avLst/>
          </a:prstGeom>
          <a:solidFill>
            <a:srgbClr val="0A0E1A"/>
          </a:solidFill>
          <a:ln w="6350">
            <a:solidFill>
              <a:srgbClr val="243049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1508760" y="5120640"/>
            <a:ext cx="1828800" cy="201168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508760" y="486460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(60 − notice_period_days) / 60, clamped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822960" y="562356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+10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1508760" y="5715000"/>
            <a:ext cx="3657600" cy="201168"/>
          </a:xfrm>
          <a:prstGeom prst="rect">
            <a:avLst/>
          </a:prstGeom>
          <a:solidFill>
            <a:srgbClr val="0A0E1A"/>
          </a:solidFill>
          <a:ln w="6350">
            <a:solidFill>
              <a:srgbClr val="243049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1508760" y="5715000"/>
            <a:ext cx="1219200" cy="201168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1508760" y="545896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relocation: yes (+10) / negotiable (+5)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7315200" y="2468880"/>
            <a:ext cx="4327855" cy="3931920"/>
          </a:xfrm>
          <a:prstGeom prst="rect">
            <a:avLst/>
          </a:prstGeom>
          <a:solidFill>
            <a:srgbClr val="131A2C"/>
          </a:solidFill>
          <a:ln w="12700">
            <a:solidFill>
              <a:srgbClr val="243049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7589520" y="2743200"/>
            <a:ext cx="37792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test call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7589520" y="3154680"/>
            <a:ext cx="37792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</a:t>
            </a:r>
            <a:endParaRPr lang="en-US" sz="9000" dirty="0"/>
          </a:p>
        </p:txBody>
      </p:sp>
      <p:sp>
        <p:nvSpPr>
          <p:cNvPr id="34" name="Text 31"/>
          <p:cNvSpPr/>
          <p:nvPr/>
        </p:nvSpPr>
        <p:spPr>
          <a:xfrm>
            <a:off x="7589520" y="4572000"/>
            <a:ext cx="37792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100</a:t>
            </a:r>
            <a:endParaRPr lang="en-US" sz="1600" dirty="0"/>
          </a:p>
        </p:txBody>
      </p:sp>
      <p:sp>
        <p:nvSpPr>
          <p:cNvPr id="35" name="Text 32"/>
          <p:cNvSpPr/>
          <p:nvPr/>
        </p:nvSpPr>
        <p:spPr>
          <a:xfrm>
            <a:off x="7589520" y="5029200"/>
            <a:ext cx="3779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years experience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7589520" y="5285232"/>
            <a:ext cx="3779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₹20L current · ₹30L expected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7589520" y="5541264"/>
            <a:ext cx="3779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30-day notice</a:t>
            </a:r>
            <a:endParaRPr lang="en-US" sz="1100" dirty="0"/>
          </a:p>
        </p:txBody>
      </p:sp>
      <p:sp>
        <p:nvSpPr>
          <p:cNvPr id="38" name="Text 35"/>
          <p:cNvSpPr/>
          <p:nvPr/>
        </p:nvSpPr>
        <p:spPr>
          <a:xfrm>
            <a:off x="7589520" y="5797296"/>
            <a:ext cx="3779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yes, can relocate</a:t>
            </a:r>
            <a:endParaRPr lang="en-US" sz="1100" dirty="0"/>
          </a:p>
        </p:txBody>
      </p:sp>
      <p:sp>
        <p:nvSpPr>
          <p:cNvPr id="39" name="Text 36"/>
          <p:cNvSpPr/>
          <p:nvPr/>
        </p:nvSpPr>
        <p:spPr>
          <a:xfrm>
            <a:off x="7589520" y="6053328"/>
            <a:ext cx="3779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interested: true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84048"/>
            <a:ext cx="256032" cy="25603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86384" y="329184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ARIA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8076895" y="3840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FSE@Bolna · Srujan Putta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82009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9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bolna-recruit-screen.vercel.app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48640" y="96012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48640" y="12801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recruiter saves — and gets</a:t>
            </a:r>
            <a:endParaRPr lang="en-US" sz="3200" dirty="0"/>
          </a:p>
        </p:txBody>
      </p:sp>
      <p:sp>
        <p:nvSpPr>
          <p:cNvPr id="9" name="Shape 6"/>
          <p:cNvSpPr/>
          <p:nvPr/>
        </p:nvSpPr>
        <p:spPr>
          <a:xfrm>
            <a:off x="548640" y="2331720"/>
            <a:ext cx="5410048" cy="1943100"/>
          </a:xfrm>
          <a:prstGeom prst="rect">
            <a:avLst/>
          </a:prstGeom>
          <a:solidFill>
            <a:srgbClr val="131A2C"/>
          </a:solidFill>
          <a:ln w="12700">
            <a:solidFill>
              <a:srgbClr val="243049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48640" y="2331720"/>
            <a:ext cx="73152" cy="1943100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8608" y="2560320"/>
            <a:ext cx="411480" cy="411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68680" y="2651760"/>
            <a:ext cx="43127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hrs</a:t>
            </a:r>
            <a:endParaRPr lang="en-US" sz="4800" dirty="0"/>
          </a:p>
        </p:txBody>
      </p:sp>
      <p:sp>
        <p:nvSpPr>
          <p:cNvPr id="13" name="Text 9"/>
          <p:cNvSpPr/>
          <p:nvPr/>
        </p:nvSpPr>
        <p:spPr>
          <a:xfrm>
            <a:off x="868680" y="3520440"/>
            <a:ext cx="486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RECLAIMED PER ROLE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868680" y="3794760"/>
            <a:ext cx="486140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candidates × 12 min replaced by parallel ~3 min Aria calls.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233008" y="2331720"/>
            <a:ext cx="5410048" cy="1943100"/>
          </a:xfrm>
          <a:prstGeom prst="rect">
            <a:avLst/>
          </a:prstGeom>
          <a:solidFill>
            <a:srgbClr val="131A2C"/>
          </a:solidFill>
          <a:ln w="12700">
            <a:solidFill>
              <a:srgbClr val="243049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233008" y="2331720"/>
            <a:ext cx="73152" cy="194310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02975" y="2560320"/>
            <a:ext cx="411480" cy="4114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553048" y="2651760"/>
            <a:ext cx="43127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$0.17</a:t>
            </a:r>
            <a:endParaRPr lang="en-US" sz="4800" dirty="0"/>
          </a:p>
        </p:txBody>
      </p:sp>
      <p:sp>
        <p:nvSpPr>
          <p:cNvPr id="19" name="Text 14"/>
          <p:cNvSpPr/>
          <p:nvPr/>
        </p:nvSpPr>
        <p:spPr>
          <a:xfrm>
            <a:off x="6553048" y="3520440"/>
            <a:ext cx="486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CANDIDATE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6553048" y="3794760"/>
            <a:ext cx="486140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— first call cost $0.14 for an 89-second screen.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548640" y="4549140"/>
            <a:ext cx="5410048" cy="1943100"/>
          </a:xfrm>
          <a:prstGeom prst="rect">
            <a:avLst/>
          </a:prstGeom>
          <a:solidFill>
            <a:srgbClr val="131A2C"/>
          </a:solidFill>
          <a:ln w="12700">
            <a:solidFill>
              <a:srgbClr val="243049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548640" y="4549140"/>
            <a:ext cx="73152" cy="194310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18608" y="4777740"/>
            <a:ext cx="411480" cy="41148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868680" y="4869180"/>
            <a:ext cx="43127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fields</a:t>
            </a:r>
            <a:endParaRPr lang="en-US" sz="4800" dirty="0"/>
          </a:p>
        </p:txBody>
      </p:sp>
      <p:sp>
        <p:nvSpPr>
          <p:cNvPr id="25" name="Text 19"/>
          <p:cNvSpPr/>
          <p:nvPr/>
        </p:nvSpPr>
        <p:spPr>
          <a:xfrm>
            <a:off x="868680" y="5737860"/>
            <a:ext cx="486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 PER CALL</a:t>
            </a:r>
            <a:endParaRPr lang="en-US" sz="1100" dirty="0"/>
          </a:p>
        </p:txBody>
      </p:sp>
      <p:sp>
        <p:nvSpPr>
          <p:cNvPr id="26" name="Text 20"/>
          <p:cNvSpPr/>
          <p:nvPr/>
        </p:nvSpPr>
        <p:spPr>
          <a:xfrm>
            <a:off x="868680" y="6012180"/>
            <a:ext cx="486140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Lands in Postgres ready for ATS import. No copy-paste, no Excel triage.</a:t>
            </a:r>
            <a:endParaRPr lang="en-US" sz="1200" dirty="0"/>
          </a:p>
        </p:txBody>
      </p:sp>
      <p:sp>
        <p:nvSpPr>
          <p:cNvPr id="27" name="Shape 21"/>
          <p:cNvSpPr/>
          <p:nvPr/>
        </p:nvSpPr>
        <p:spPr>
          <a:xfrm>
            <a:off x="6233008" y="4549140"/>
            <a:ext cx="5410048" cy="1943100"/>
          </a:xfrm>
          <a:prstGeom prst="rect">
            <a:avLst/>
          </a:prstGeom>
          <a:solidFill>
            <a:srgbClr val="131A2C"/>
          </a:solidFill>
          <a:ln w="12700">
            <a:solidFill>
              <a:srgbClr val="243049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6233008" y="4549140"/>
            <a:ext cx="73152" cy="19431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02975" y="4777740"/>
            <a:ext cx="411480" cy="411480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6553048" y="4869180"/>
            <a:ext cx="43127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~45 sec</a:t>
            </a:r>
            <a:endParaRPr lang="en-US" sz="4800" dirty="0"/>
          </a:p>
        </p:txBody>
      </p:sp>
      <p:sp>
        <p:nvSpPr>
          <p:cNvPr id="31" name="Text 24"/>
          <p:cNvSpPr/>
          <p:nvPr/>
        </p:nvSpPr>
        <p:spPr>
          <a:xfrm>
            <a:off x="6553048" y="5737860"/>
            <a:ext cx="486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HANGUP → DASHBOARD</a:t>
            </a:r>
            <a:endParaRPr lang="en-US" sz="1100" dirty="0"/>
          </a:p>
        </p:txBody>
      </p:sp>
      <p:sp>
        <p:nvSpPr>
          <p:cNvPr id="32" name="Text 25"/>
          <p:cNvSpPr/>
          <p:nvPr/>
        </p:nvSpPr>
        <p:spPr>
          <a:xfrm>
            <a:off x="6553048" y="6012180"/>
            <a:ext cx="486140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Bolna's analytics pass plus our 2-second polling fallback.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84048"/>
            <a:ext cx="256032" cy="25603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86384" y="329184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ARIA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8076895" y="3840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FSE@Bolna · Srujan Putta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82009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9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bolna-recruit-screen.vercel.app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48640" y="96012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48640" y="12801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&amp; contact</a:t>
            </a:r>
            <a:endParaRPr lang="en-US" sz="32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514600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51560" y="2468880"/>
            <a:ext cx="7178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+ multi-tenant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1051560" y="2761488"/>
            <a:ext cx="7178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Currently single-user demo; per-recruiter workspaces with RLS scoping.</a:t>
            </a:r>
            <a:endParaRPr lang="en-US" sz="11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227832"/>
            <a:ext cx="365760" cy="36576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51560" y="3182112"/>
            <a:ext cx="7178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ATS integrations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1051560" y="3474720"/>
            <a:ext cx="7178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shortlists to Greenhouse / Lever directly from the Export action.</a:t>
            </a:r>
            <a:endParaRPr lang="en-US" sz="11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941064"/>
            <a:ext cx="365760" cy="36576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051560" y="3895344"/>
            <a:ext cx="7178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Multi-language</a:t>
            </a:r>
            <a:endParaRPr lang="en-US" sz="1400" dirty="0"/>
          </a:p>
        </p:txBody>
      </p:sp>
      <p:sp>
        <p:nvSpPr>
          <p:cNvPr id="17" name="Text 11"/>
          <p:cNvSpPr/>
          <p:nvPr/>
        </p:nvSpPr>
        <p:spPr>
          <a:xfrm>
            <a:off x="1051560" y="4187952"/>
            <a:ext cx="7178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Bolna already supports Hindi natively; agent prompt structure is ready.</a:t>
            </a:r>
            <a:endParaRPr lang="en-US" sz="11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4654296"/>
            <a:ext cx="365760" cy="36576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051560" y="4608576"/>
            <a:ext cx="7178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poll on Bolna /executions</a:t>
            </a:r>
            <a:endParaRPr lang="en-US" sz="1400" dirty="0"/>
          </a:p>
        </p:txBody>
      </p:sp>
      <p:sp>
        <p:nvSpPr>
          <p:cNvPr id="20" name="Text 13"/>
          <p:cNvSpPr/>
          <p:nvPr/>
        </p:nvSpPr>
        <p:spPr>
          <a:xfrm>
            <a:off x="1051560" y="4901184"/>
            <a:ext cx="7178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Shrink the calling → completed gap from 45s to ~5s when webhook is delayed.</a:t>
            </a:r>
            <a:endParaRPr lang="en-US" sz="1100" dirty="0"/>
          </a:p>
        </p:txBody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5367528"/>
            <a:ext cx="365760" cy="365760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1051560" y="5321808"/>
            <a:ext cx="7178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fallback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051560" y="5614416"/>
            <a:ext cx="7178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unreachable candidates, fall back to a structured SMS form.</a:t>
            </a:r>
            <a:endParaRPr lang="en-US" sz="1100" dirty="0"/>
          </a:p>
        </p:txBody>
      </p:sp>
      <p:sp>
        <p:nvSpPr>
          <p:cNvPr id="24" name="Shape 16"/>
          <p:cNvSpPr/>
          <p:nvPr/>
        </p:nvSpPr>
        <p:spPr>
          <a:xfrm>
            <a:off x="8503920" y="2468880"/>
            <a:ext cx="3139135" cy="3931920"/>
          </a:xfrm>
          <a:prstGeom prst="rect">
            <a:avLst/>
          </a:prstGeom>
          <a:solidFill>
            <a:srgbClr val="131A2C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25" name="Shape 17"/>
          <p:cNvSpPr/>
          <p:nvPr/>
        </p:nvSpPr>
        <p:spPr>
          <a:xfrm>
            <a:off x="8503920" y="2468880"/>
            <a:ext cx="3139135" cy="731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6" name="Text 18"/>
          <p:cNvSpPr/>
          <p:nvPr/>
        </p:nvSpPr>
        <p:spPr>
          <a:xfrm>
            <a:off x="8778240" y="2697480"/>
            <a:ext cx="25904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</a:t>
            </a:r>
            <a:endParaRPr lang="en-US" sz="1100" dirty="0"/>
          </a:p>
        </p:txBody>
      </p:sp>
      <p:sp>
        <p:nvSpPr>
          <p:cNvPr id="27" name="Text 19"/>
          <p:cNvSpPr/>
          <p:nvPr/>
        </p:nvSpPr>
        <p:spPr>
          <a:xfrm>
            <a:off x="8778240" y="3017520"/>
            <a:ext cx="25904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Srujan Putta</a:t>
            </a:r>
            <a:endParaRPr lang="en-US" sz="2200" dirty="0"/>
          </a:p>
        </p:txBody>
      </p:sp>
      <p:pic>
        <p:nvPicPr>
          <p:cNvPr id="2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78240" y="3886200"/>
            <a:ext cx="292608" cy="292608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9189720" y="3877056"/>
            <a:ext cx="22704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bolna-recruit-screen.vercel.app</a:t>
            </a:r>
            <a:endParaRPr lang="en-US" sz="1100" dirty="0"/>
          </a:p>
        </p:txBody>
      </p:sp>
      <p:pic>
        <p:nvPicPr>
          <p:cNvPr id="3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78240" y="4389120"/>
            <a:ext cx="292608" cy="292608"/>
          </a:xfrm>
          <a:prstGeom prst="rect">
            <a:avLst/>
          </a:prstGeom>
        </p:spPr>
      </p:pic>
      <p:sp>
        <p:nvSpPr>
          <p:cNvPr id="31" name="Text 21"/>
          <p:cNvSpPr/>
          <p:nvPr/>
        </p:nvSpPr>
        <p:spPr>
          <a:xfrm>
            <a:off x="9189720" y="4379976"/>
            <a:ext cx="22704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github.com/srujan-here/bolna-recruit-screen</a:t>
            </a:r>
            <a:endParaRPr lang="en-US" sz="1100" dirty="0"/>
          </a:p>
        </p:txBody>
      </p:sp>
      <p:sp>
        <p:nvSpPr>
          <p:cNvPr id="32" name="Text 22"/>
          <p:cNvSpPr/>
          <p:nvPr/>
        </p:nvSpPr>
        <p:spPr>
          <a:xfrm>
            <a:off x="8778240" y="5486400"/>
            <a:ext cx="25904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end-to-end in the take-home window — agent, app, deploy, demo.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Aria — AI Recruitment Pre-Screener</dc:title>
  <dc:subject>PptxGenJS Presentation</dc:subject>
  <dc:creator>Srujan Putta</dc:creator>
  <cp:lastModifiedBy>Srujan Putta</cp:lastModifiedBy>
  <cp:revision>1</cp:revision>
  <dcterms:created xsi:type="dcterms:W3CDTF">2026-05-03T19:57:54Z</dcterms:created>
  <dcterms:modified xsi:type="dcterms:W3CDTF">2026-05-03T19:57:54Z</dcterms:modified>
</cp:coreProperties>
</file>